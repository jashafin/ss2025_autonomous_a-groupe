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71" r:id="rId6"/>
    <p:sldId id="260" r:id="rId7"/>
    <p:sldId id="261" r:id="rId8"/>
    <p:sldId id="265" r:id="rId9"/>
    <p:sldId id="266" r:id="rId10"/>
    <p:sldId id="264" r:id="rId11"/>
    <p:sldId id="268" r:id="rId12"/>
    <p:sldId id="269" r:id="rId13"/>
    <p:sldId id="26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40268-5243-69CE-AF48-10082AB3C3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03AE62-E07A-CA7F-AE4C-CA320F95B7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2BB021-6BED-AEAA-78AE-7862C8BB5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4FDD3-FF7F-4F62-BCE8-0A07F030CAC4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9F235A-2303-1496-A265-E8C524A2A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FA68DA-784A-0A4D-4C28-B4E6C712F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32A71-F70C-43CC-B1E1-531046A4DB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0727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68D32-0883-CA51-E74F-1B7F3ACA90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AECB7-8E2B-5A7F-B24C-CA074B364C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EB62ED-24C0-D57D-18C9-002AD8081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4FDD3-FF7F-4F62-BCE8-0A07F030CAC4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CABECE-CCAF-B161-6494-227E83AB1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A863BB-2534-C5BD-FC9D-2A44E8815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32A71-F70C-43CC-B1E1-531046A4DB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6088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7CE6B-FC9F-D4EC-305C-6643019D2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3B367C-BC29-73F7-EEBC-F15FE22BBF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E3EEA1-CF5B-24C9-ABB9-B352B86CA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4FDD3-FF7F-4F62-BCE8-0A07F030CAC4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83487A-6578-2C91-9A7E-5EB2220B1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820F3B-B01B-9201-9590-67C2E0791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32A71-F70C-43CC-B1E1-531046A4DB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546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80F12-AF6C-60E8-25F1-D603AF93E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CBE1FB-D094-8DB8-0F34-0079194FDF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FE232C-8274-A347-A314-BCF8FE6121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31217E-2476-1F1E-7CFE-707DA66BA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4FDD3-FF7F-4F62-BCE8-0A07F030CAC4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0FF04A-2BA8-D61F-CA32-FEBBF8825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16B4BD-4AF5-7714-8C58-EA10937E2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32A71-F70C-43CC-B1E1-531046A4DB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2561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FC4D5-C0F5-16B5-4885-075F4CCEE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D8F9D9-7B40-58F2-9EEE-040B5E972F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37628F-58E0-1391-3364-5231522DBD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AAFB80-0D5A-125E-EB8A-62981859BD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AED5FA-CB46-06EC-987C-EAA62B3BB1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DE6597-FB51-D56D-5B4E-1402C49AC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4FDD3-FF7F-4F62-BCE8-0A07F030CAC4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E71232-DADD-3D6B-7031-8C529F46E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A0A7DA-68F1-7742-D628-F4F41D9B4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32A71-F70C-43CC-B1E1-531046A4DB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908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FAAD3-5EF9-4357-5F32-F9EAA77CE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BCD35E-5FA2-D4BE-2283-98AC5CF15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4FDD3-FF7F-4F62-BCE8-0A07F030CAC4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E911BE-D62A-F26E-EE57-175505525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82CE51-E2C7-D398-6E75-D107D2727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32A71-F70C-43CC-B1E1-531046A4DB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0795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2B0A15-7CE7-8EA8-24C6-BE429756E0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4FDD3-FF7F-4F62-BCE8-0A07F030CAC4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3B1319-1544-E20A-685F-7CB4373A2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2BF379-04BD-80B2-150B-302077F7D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32A71-F70C-43CC-B1E1-531046A4DB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1956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131AA-530F-7476-93F3-07544250F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7B113A-5B72-05AB-DECA-EF77559A2D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F33D4B-BA67-DAA3-AE77-262472ECE6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3AE0E0-7285-E7AE-ABE0-9DA340445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4FDD3-FF7F-4F62-BCE8-0A07F030CAC4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371FC1-0A4C-879B-95BF-7834C55F3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34CB36-8000-517C-33BC-0EF8A8543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32A71-F70C-43CC-B1E1-531046A4DB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4429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4E1D5-1167-F6A1-FBD4-6C4BC35C8B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3094AB-3B43-5FEA-DCFF-E3C50AD37C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9875B1-A1C1-1037-9F0C-8AF752E71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969A5F-2B13-41D4-9577-CBBEA629A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4FDD3-FF7F-4F62-BCE8-0A07F030CAC4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E3E20C-75CF-2606-E71A-A88098D38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ECA6D7-4D22-3B33-563C-69811CA4B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32A71-F70C-43CC-B1E1-531046A4DB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005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092EF-BBCF-DCAC-EB16-35B7821A9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00B336-8276-9560-E745-57BB4878EA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B0F7A6-10D8-DAC7-D93B-680B80ABC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4FDD3-FF7F-4F62-BCE8-0A07F030CAC4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6707F4-2882-264B-0ED1-DEF24734E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5CDBEA-7F9A-8312-D350-43A87D315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32A71-F70C-43CC-B1E1-531046A4DB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879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16F09CC-981E-860C-BA94-EE9845DDFC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E4AFA0-6FC2-0A2F-8AB6-6669B51309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98950E-6766-04C2-0E18-232642838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4FDD3-FF7F-4F62-BCE8-0A07F030CAC4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34B30A-2E0A-1573-4C84-AB53FF615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819A58-4B3F-74F1-F363-AEE969DB6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32A71-F70C-43CC-B1E1-531046A4DB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5887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D16D59-8950-7CA0-6FB7-A9DB2E8DF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C93ED1-AB96-15F4-0840-D15AA7EF80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27368B-B176-D399-99B7-E8274375D5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94FDD3-FF7F-4F62-BCE8-0A07F030CAC4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A6FCD1-DFF2-8A44-F1A7-C15D1FD9E3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53D161-471C-88BD-82CE-35FDF43795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132A71-F70C-43CC-B1E1-531046A4DB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916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3CEB216F-4BE5-4AEB-AC48-BF516166CB20}"/>
              </a:ext>
            </a:extLst>
          </p:cNvPr>
          <p:cNvSpPr/>
          <p:nvPr/>
        </p:nvSpPr>
        <p:spPr>
          <a:xfrm>
            <a:off x="187719" y="167769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i="1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Truck Platooning System: Combining ML and Formal Verification</a:t>
            </a:r>
            <a:endParaRPr lang="en-US" sz="4450" b="1" i="1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ACDA5CD5-B421-9A8C-FBAF-C7304342E9B5}"/>
              </a:ext>
            </a:extLst>
          </p:cNvPr>
          <p:cNvSpPr/>
          <p:nvPr/>
        </p:nvSpPr>
        <p:spPr>
          <a:xfrm>
            <a:off x="304680" y="2532906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 project exploring how machine learning for visual steering control and formal verification can create safer, more intelligent autonomous driving systems.</a:t>
            </a:r>
            <a:endParaRPr lang="en-US" sz="1750" dirty="0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AC8466BA-B057-75AD-17D8-2D4FE451E1FF}"/>
              </a:ext>
            </a:extLst>
          </p:cNvPr>
          <p:cNvSpPr/>
          <p:nvPr/>
        </p:nvSpPr>
        <p:spPr>
          <a:xfrm>
            <a:off x="453539" y="5455692"/>
            <a:ext cx="362903" cy="362903"/>
          </a:xfrm>
          <a:prstGeom prst="roundRect">
            <a:avLst>
              <a:gd name="adj" fmla="val 25194296"/>
            </a:avLst>
          </a:prstGeom>
          <a:noFill/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A195F8-9881-F9C3-8F6F-B81CBC3818D6}"/>
              </a:ext>
            </a:extLst>
          </p:cNvPr>
          <p:cNvSpPr txBox="1"/>
          <p:nvPr/>
        </p:nvSpPr>
        <p:spPr>
          <a:xfrm>
            <a:off x="217242" y="4248227"/>
            <a:ext cx="608951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Jiban-Ul Azam Chowdhury Shafin</a:t>
            </a:r>
          </a:p>
          <a:p>
            <a:r>
              <a:rPr lang="en-US" sz="2000" b="1" dirty="0"/>
              <a:t>Yuming Wang </a:t>
            </a:r>
          </a:p>
          <a:p>
            <a:endParaRPr lang="en-US" sz="2000" b="1" dirty="0"/>
          </a:p>
          <a:p>
            <a:r>
              <a:rPr lang="en-US" sz="2000" b="1" dirty="0"/>
              <a:t>Submitted to: Prof. Dr. Stefan </a:t>
            </a:r>
            <a:r>
              <a:rPr lang="en-US" sz="2000" b="1" dirty="0" err="1"/>
              <a:t>Henkler</a:t>
            </a:r>
            <a:endParaRPr lang="en-US" sz="2000" b="1" dirty="0"/>
          </a:p>
          <a:p>
            <a:r>
              <a:rPr lang="en-US" sz="2000" b="1" dirty="0"/>
              <a:t>                          Prof. Dr. Martin Hirsch</a:t>
            </a:r>
          </a:p>
          <a:p>
            <a:endParaRPr lang="en-US" sz="2000" b="1" dirty="0"/>
          </a:p>
          <a:p>
            <a:r>
              <a:rPr lang="en-US" sz="2000" b="1" dirty="0"/>
              <a:t>Electronic Engineering, Hochschule Hamm-LIPPSTADT</a:t>
            </a:r>
          </a:p>
        </p:txBody>
      </p:sp>
      <p:pic>
        <p:nvPicPr>
          <p:cNvPr id="1026" name="Picture 2" descr="What Is Truck Platooning?">
            <a:extLst>
              <a:ext uri="{FF2B5EF4-FFF2-40B4-BE49-F238E27FC236}">
                <a16:creationId xmlns:a16="http://schemas.microsoft.com/office/drawing/2014/main" id="{DFB105FD-DAE1-45C6-E04F-BF2D46FB12B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378"/>
          <a:stretch>
            <a:fillRect/>
          </a:stretch>
        </p:blipFill>
        <p:spPr bwMode="auto">
          <a:xfrm>
            <a:off x="7690123" y="0"/>
            <a:ext cx="4501878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931139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07156CC-67BC-3C0F-5A75-5EE52105487F}"/>
              </a:ext>
            </a:extLst>
          </p:cNvPr>
          <p:cNvSpPr/>
          <p:nvPr/>
        </p:nvSpPr>
        <p:spPr>
          <a:xfrm>
            <a:off x="262158" y="65385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i="1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Project Motivation</a:t>
            </a:r>
            <a:endParaRPr lang="en-US" sz="4450" b="1" i="1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5A41EEE-3EE5-4C54-BF35-952BAC6B72C9}"/>
              </a:ext>
            </a:extLst>
          </p:cNvPr>
          <p:cNvSpPr/>
          <p:nvPr/>
        </p:nvSpPr>
        <p:spPr>
          <a:xfrm>
            <a:off x="262159" y="1906867"/>
            <a:ext cx="583384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As autonomous driving becomes more widespread, ensuring both safety and intelligence in vehicle behavior is critical. Our goal is to build a system that is:</a:t>
            </a:r>
            <a:endParaRPr lang="en-US" sz="175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A5F9D32-2055-C016-A7E1-32550EF4C1B1}"/>
              </a:ext>
            </a:extLst>
          </p:cNvPr>
          <p:cNvSpPr/>
          <p:nvPr/>
        </p:nvSpPr>
        <p:spPr>
          <a:xfrm>
            <a:off x="262158" y="3199647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Smart in decision-making</a:t>
            </a: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through machine learning</a:t>
            </a:r>
            <a:endParaRPr lang="en-US" sz="17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1BADD9E-0A94-644B-9C0B-637AAC1FDBA2}"/>
              </a:ext>
            </a:extLst>
          </p:cNvPr>
          <p:cNvSpPr/>
          <p:nvPr/>
        </p:nvSpPr>
        <p:spPr>
          <a:xfrm>
            <a:off x="262158" y="400474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Formally verified to avoid unsafe situations</a:t>
            </a:r>
            <a:endParaRPr lang="en-US" sz="175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431DBEA-EC49-253E-FD55-6793C33A4038}"/>
              </a:ext>
            </a:extLst>
          </p:cNvPr>
          <p:cNvSpPr/>
          <p:nvPr/>
        </p:nvSpPr>
        <p:spPr>
          <a:xfrm>
            <a:off x="262158" y="4571723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This represents a key step toward safer roads and reliable autonomous vehicle deployment.</a:t>
            </a:r>
            <a:endParaRPr lang="en-US" sz="1750" dirty="0"/>
          </a:p>
        </p:txBody>
      </p:sp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DFC459E3-A970-BF4E-B2BA-61A4778541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507" y="1906866"/>
            <a:ext cx="5815558" cy="3390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1070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C8C01D5-FC93-3BFE-B46F-35DD476747DB}"/>
              </a:ext>
            </a:extLst>
          </p:cNvPr>
          <p:cNvSpPr/>
          <p:nvPr/>
        </p:nvSpPr>
        <p:spPr>
          <a:xfrm>
            <a:off x="4961756" y="86263"/>
            <a:ext cx="7194987" cy="1274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i="1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UPPAAL Model for Truck Platooning</a:t>
            </a:r>
            <a:endParaRPr lang="en-US" sz="4450" b="1" i="1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83CE206-2999-3B20-AFB9-8E5B48047164}"/>
              </a:ext>
            </a:extLst>
          </p:cNvPr>
          <p:cNvSpPr/>
          <p:nvPr/>
        </p:nvSpPr>
        <p:spPr>
          <a:xfrm>
            <a:off x="4961756" y="1843982"/>
            <a:ext cx="485894" cy="458821"/>
          </a:xfrm>
          <a:prstGeom prst="roundRect">
            <a:avLst>
              <a:gd name="adj" fmla="val 6667"/>
            </a:avLst>
          </a:prstGeom>
          <a:solidFill>
            <a:srgbClr val="F0EAE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CE919A4-66DB-2F2D-3C32-E2875A5822BF}"/>
              </a:ext>
            </a:extLst>
          </p:cNvPr>
          <p:cNvSpPr/>
          <p:nvPr/>
        </p:nvSpPr>
        <p:spPr>
          <a:xfrm>
            <a:off x="5698872" y="1921849"/>
            <a:ext cx="3165563" cy="318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i="1" dirty="0"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Timed Automata Model</a:t>
            </a:r>
            <a:endParaRPr lang="en-US" sz="2200" b="1" i="1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1CD2031-839F-70E4-4F1F-00AA904BA9BD}"/>
              </a:ext>
            </a:extLst>
          </p:cNvPr>
          <p:cNvSpPr/>
          <p:nvPr/>
        </p:nvSpPr>
        <p:spPr>
          <a:xfrm>
            <a:off x="5698873" y="2412269"/>
            <a:ext cx="6493128" cy="652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Created using UPPAAL to formally verify autonomous truck platooning behavior</a:t>
            </a:r>
            <a:endParaRPr lang="en-US" sz="175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4D33835B-FBCE-E0C3-81A0-B95C2EFC0332}"/>
              </a:ext>
            </a:extLst>
          </p:cNvPr>
          <p:cNvSpPr/>
          <p:nvPr/>
        </p:nvSpPr>
        <p:spPr>
          <a:xfrm>
            <a:off x="4961756" y="3591701"/>
            <a:ext cx="485894" cy="458821"/>
          </a:xfrm>
          <a:prstGeom prst="roundRect">
            <a:avLst>
              <a:gd name="adj" fmla="val 6667"/>
            </a:avLst>
          </a:prstGeom>
          <a:solidFill>
            <a:srgbClr val="F0EAE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4E46091-D2CF-B21E-86CB-C91385251CE3}"/>
              </a:ext>
            </a:extLst>
          </p:cNvPr>
          <p:cNvSpPr/>
          <p:nvPr/>
        </p:nvSpPr>
        <p:spPr>
          <a:xfrm>
            <a:off x="5698872" y="3669568"/>
            <a:ext cx="2958327" cy="318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i="1" dirty="0">
                <a:solidFill>
                  <a:schemeClr val="tx1">
                    <a:lumMod val="95000"/>
                    <a:lumOff val="5000"/>
                  </a:schemeClr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Real-World Scenarios</a:t>
            </a:r>
            <a:endParaRPr lang="en-US" sz="2200" b="1" i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E0121EAE-4E53-AD2C-EE14-B9AF4CFF28F7}"/>
              </a:ext>
            </a:extLst>
          </p:cNvPr>
          <p:cNvSpPr/>
          <p:nvPr/>
        </p:nvSpPr>
        <p:spPr>
          <a:xfrm>
            <a:off x="5698873" y="4159987"/>
            <a:ext cx="6493128" cy="652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Simulates trucks detecting cut-in cars and coordinating to avoid collisions</a:t>
            </a:r>
            <a:endParaRPr lang="en-US" sz="175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95DC2CDF-CB88-61CB-53BF-0D011F01A68C}"/>
              </a:ext>
            </a:extLst>
          </p:cNvPr>
          <p:cNvSpPr/>
          <p:nvPr/>
        </p:nvSpPr>
        <p:spPr>
          <a:xfrm>
            <a:off x="4961756" y="5339419"/>
            <a:ext cx="485894" cy="458821"/>
          </a:xfrm>
          <a:prstGeom prst="roundRect">
            <a:avLst>
              <a:gd name="adj" fmla="val 6667"/>
            </a:avLst>
          </a:prstGeom>
          <a:solidFill>
            <a:srgbClr val="F0EAE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3D844B86-84FD-E93A-534F-C626189A217F}"/>
              </a:ext>
            </a:extLst>
          </p:cNvPr>
          <p:cNvSpPr/>
          <p:nvPr/>
        </p:nvSpPr>
        <p:spPr>
          <a:xfrm>
            <a:off x="5698872" y="5417286"/>
            <a:ext cx="2914340" cy="318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i="1" dirty="0">
                <a:solidFill>
                  <a:schemeClr val="tx1">
                    <a:lumMod val="95000"/>
                    <a:lumOff val="5000"/>
                  </a:schemeClr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Safe Joining Protocol</a:t>
            </a:r>
            <a:endParaRPr lang="en-US" sz="2200" b="1" i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03CCC457-4C09-7391-A7C0-2C58E49A7DD9}"/>
              </a:ext>
            </a:extLst>
          </p:cNvPr>
          <p:cNvSpPr/>
          <p:nvPr/>
        </p:nvSpPr>
        <p:spPr>
          <a:xfrm>
            <a:off x="5698873" y="5907705"/>
            <a:ext cx="6493128" cy="652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Enables new trucks to safely join an existing platoon through formal verification</a:t>
            </a:r>
            <a:endParaRPr lang="en-US" sz="1750" dirty="0"/>
          </a:p>
        </p:txBody>
      </p:sp>
      <p:pic>
        <p:nvPicPr>
          <p:cNvPr id="2050" name="Picture 2" descr="Identificación Y Verificación Como Parte De La Debida Diligencia Adecuada  De Un Cliente">
            <a:extLst>
              <a:ext uri="{FF2B5EF4-FFF2-40B4-BE49-F238E27FC236}">
                <a16:creationId xmlns:a16="http://schemas.microsoft.com/office/drawing/2014/main" id="{7E0C36F3-CE5E-0B4E-1DC1-D8609DFECF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4805916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6435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41504A1-1912-D5DA-515F-745A6B0EE6F1}"/>
              </a:ext>
            </a:extLst>
          </p:cNvPr>
          <p:cNvSpPr/>
          <p:nvPr/>
        </p:nvSpPr>
        <p:spPr>
          <a:xfrm>
            <a:off x="6959689" y="849745"/>
            <a:ext cx="3594747" cy="1537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3600" i="1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Timing Constraints</a:t>
            </a:r>
            <a:endParaRPr lang="en-US" sz="3600" i="1" dirty="0"/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EDD58098-8A51-0E7D-679B-42D96F91B328}"/>
              </a:ext>
            </a:extLst>
          </p:cNvPr>
          <p:cNvSpPr/>
          <p:nvPr/>
        </p:nvSpPr>
        <p:spPr>
          <a:xfrm>
            <a:off x="6959689" y="2172256"/>
            <a:ext cx="3958697" cy="78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Radar checks every </a:t>
            </a:r>
            <a:r>
              <a:rPr lang="en-US" sz="1750" b="1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5 time units</a:t>
            </a:r>
            <a:endParaRPr lang="en-US" sz="1750" dirty="0"/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92758A3D-14CC-C559-4BEB-FF36CF9E836F}"/>
              </a:ext>
            </a:extLst>
          </p:cNvPr>
          <p:cNvSpPr/>
          <p:nvPr/>
        </p:nvSpPr>
        <p:spPr>
          <a:xfrm>
            <a:off x="6959689" y="2614455"/>
            <a:ext cx="3958697" cy="78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Truck must join within </a:t>
            </a:r>
            <a:r>
              <a:rPr lang="en-US" sz="1750" b="1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6 time units</a:t>
            </a: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(t_join &lt; 6)</a:t>
            </a:r>
            <a:endParaRPr lang="en-US" sz="1750" dirty="0"/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D752EC95-44EA-04A7-96C1-A26B952842A3}"/>
              </a:ext>
            </a:extLst>
          </p:cNvPr>
          <p:cNvSpPr/>
          <p:nvPr/>
        </p:nvSpPr>
        <p:spPr>
          <a:xfrm>
            <a:off x="6959689" y="3056653"/>
            <a:ext cx="3958697" cy="78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Gap adjustment handled with timer (t_gap)</a:t>
            </a:r>
            <a:endParaRPr lang="en-US" sz="1750" dirty="0"/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B3C71B7B-2526-0F09-3A48-0EF538011A49}"/>
              </a:ext>
            </a:extLst>
          </p:cNvPr>
          <p:cNvSpPr/>
          <p:nvPr/>
        </p:nvSpPr>
        <p:spPr>
          <a:xfrm>
            <a:off x="6971564" y="3968012"/>
            <a:ext cx="3958697" cy="157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These constraints ensure safe coordination between vehicles and prevent dangerous situations.</a:t>
            </a:r>
            <a:endParaRPr lang="en-US" sz="1750" dirty="0"/>
          </a:p>
        </p:txBody>
      </p:sp>
      <p:sp>
        <p:nvSpPr>
          <p:cNvPr id="7" name="Text 0">
            <a:extLst>
              <a:ext uri="{FF2B5EF4-FFF2-40B4-BE49-F238E27FC236}">
                <a16:creationId xmlns:a16="http://schemas.microsoft.com/office/drawing/2014/main" id="{C1BDC863-F062-A94D-3B30-54CEA1A22723}"/>
              </a:ext>
            </a:extLst>
          </p:cNvPr>
          <p:cNvSpPr/>
          <p:nvPr/>
        </p:nvSpPr>
        <p:spPr>
          <a:xfrm>
            <a:off x="514443" y="730381"/>
            <a:ext cx="3821027" cy="1537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3600" i="1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System Components</a:t>
            </a:r>
            <a:endParaRPr lang="en-US" sz="3600" i="1" dirty="0"/>
          </a:p>
        </p:txBody>
      </p:sp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A30F347C-AAAA-507E-610E-4E394C0DA4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492" y="1855648"/>
            <a:ext cx="299376" cy="299376"/>
          </a:xfrm>
          <a:prstGeom prst="rect">
            <a:avLst/>
          </a:prstGeom>
        </p:spPr>
      </p:pic>
      <p:sp>
        <p:nvSpPr>
          <p:cNvPr id="9" name="Text 1">
            <a:extLst>
              <a:ext uri="{FF2B5EF4-FFF2-40B4-BE49-F238E27FC236}">
                <a16:creationId xmlns:a16="http://schemas.microsoft.com/office/drawing/2014/main" id="{342EFEA5-2051-6980-1DE7-A90FE23AD080}"/>
              </a:ext>
            </a:extLst>
          </p:cNvPr>
          <p:cNvSpPr/>
          <p:nvPr/>
        </p:nvSpPr>
        <p:spPr>
          <a:xfrm>
            <a:off x="1328038" y="1781005"/>
            <a:ext cx="1497068" cy="45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RadarSensor</a:t>
            </a:r>
            <a:endParaRPr lang="en-US" sz="2200" dirty="0"/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E43A562B-E202-C1D6-5C74-B1BDE869A0F3}"/>
              </a:ext>
            </a:extLst>
          </p:cNvPr>
          <p:cNvSpPr/>
          <p:nvPr/>
        </p:nvSpPr>
        <p:spPr>
          <a:xfrm>
            <a:off x="1518045" y="2188299"/>
            <a:ext cx="4822506" cy="727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Periodically detects vehicles and broadcasts car_detected! every 5 time units</a:t>
            </a:r>
            <a:endParaRPr lang="en-US" sz="1750" dirty="0"/>
          </a:p>
        </p:txBody>
      </p:sp>
      <p:pic>
        <p:nvPicPr>
          <p:cNvPr id="11" name="Image 2" descr="preencoded.png">
            <a:extLst>
              <a:ext uri="{FF2B5EF4-FFF2-40B4-BE49-F238E27FC236}">
                <a16:creationId xmlns:a16="http://schemas.microsoft.com/office/drawing/2014/main" id="{717F5C3F-A7BC-27A0-5794-C277EE3D67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94" y="3108491"/>
            <a:ext cx="313367" cy="313367"/>
          </a:xfrm>
          <a:prstGeom prst="rect">
            <a:avLst/>
          </a:prstGeom>
        </p:spPr>
      </p:pic>
      <p:sp>
        <p:nvSpPr>
          <p:cNvPr id="12" name="Text 3">
            <a:extLst>
              <a:ext uri="{FF2B5EF4-FFF2-40B4-BE49-F238E27FC236}">
                <a16:creationId xmlns:a16="http://schemas.microsoft.com/office/drawing/2014/main" id="{5F0A5262-9403-2351-2A98-4EAB6C38FB83}"/>
              </a:ext>
            </a:extLst>
          </p:cNvPr>
          <p:cNvSpPr/>
          <p:nvPr/>
        </p:nvSpPr>
        <p:spPr>
          <a:xfrm>
            <a:off x="1328041" y="3105098"/>
            <a:ext cx="1397445" cy="45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OperationCenter</a:t>
            </a:r>
            <a:endParaRPr lang="en-US" sz="2200" dirty="0"/>
          </a:p>
        </p:txBody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C6885D35-3081-977F-314F-AA70C185B5B2}"/>
              </a:ext>
            </a:extLst>
          </p:cNvPr>
          <p:cNvSpPr/>
          <p:nvPr/>
        </p:nvSpPr>
        <p:spPr>
          <a:xfrm>
            <a:off x="1541795" y="3476768"/>
            <a:ext cx="4954700" cy="519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Assesses situations and sends commands (brake_emergency!, slow_down!, create_space!)</a:t>
            </a:r>
            <a:endParaRPr lang="en-US" sz="1750" dirty="0"/>
          </a:p>
        </p:txBody>
      </p:sp>
      <p:pic>
        <p:nvPicPr>
          <p:cNvPr id="14" name="Image 3" descr="preencoded.png">
            <a:extLst>
              <a:ext uri="{FF2B5EF4-FFF2-40B4-BE49-F238E27FC236}">
                <a16:creationId xmlns:a16="http://schemas.microsoft.com/office/drawing/2014/main" id="{B7D27547-A283-6775-8F85-248AF9AB36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114" y="4301951"/>
            <a:ext cx="286126" cy="342539"/>
          </a:xfrm>
          <a:prstGeom prst="rect">
            <a:avLst/>
          </a:prstGeom>
        </p:spPr>
      </p:pic>
      <p:sp>
        <p:nvSpPr>
          <p:cNvPr id="15" name="Text 5">
            <a:extLst>
              <a:ext uri="{FF2B5EF4-FFF2-40B4-BE49-F238E27FC236}">
                <a16:creationId xmlns:a16="http://schemas.microsoft.com/office/drawing/2014/main" id="{E0C5CD81-029A-9AE6-D2C1-DD98A1D161B3}"/>
              </a:ext>
            </a:extLst>
          </p:cNvPr>
          <p:cNvSpPr/>
          <p:nvPr/>
        </p:nvSpPr>
        <p:spPr>
          <a:xfrm>
            <a:off x="1363665" y="4322308"/>
            <a:ext cx="1430812" cy="45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Truck Network</a:t>
            </a:r>
            <a:endParaRPr lang="en-US" sz="2200" dirty="0"/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0A40C94B-1CD4-DF5E-8E8F-7995C70CCE3B}"/>
              </a:ext>
            </a:extLst>
          </p:cNvPr>
          <p:cNvSpPr/>
          <p:nvPr/>
        </p:nvSpPr>
        <p:spPr>
          <a:xfrm>
            <a:off x="1482415" y="4943496"/>
            <a:ext cx="5194833" cy="596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DetectorTruck, OtherTruck1, OtherTruck2, JoiningTruck, Leader, and Member components</a:t>
            </a: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19648023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817D07-1DA0-D0FB-6485-246963F72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DF311DF-E2D6-DF90-1AEA-9F87CF192BC6}"/>
              </a:ext>
            </a:extLst>
          </p:cNvPr>
          <p:cNvSpPr/>
          <p:nvPr/>
        </p:nvSpPr>
        <p:spPr>
          <a:xfrm>
            <a:off x="6959689" y="849745"/>
            <a:ext cx="3594747" cy="1537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endParaRPr lang="en-US" sz="3600" dirty="0"/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1D18396F-EFF8-F0CC-49FE-FED2F517D525}"/>
              </a:ext>
            </a:extLst>
          </p:cNvPr>
          <p:cNvSpPr/>
          <p:nvPr/>
        </p:nvSpPr>
        <p:spPr>
          <a:xfrm>
            <a:off x="6959689" y="2614455"/>
            <a:ext cx="3958697" cy="78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endParaRPr lang="en-US" sz="1750" dirty="0"/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B358A2C8-B2B5-D4DF-9AD2-D0C62571CD3C}"/>
              </a:ext>
            </a:extLst>
          </p:cNvPr>
          <p:cNvSpPr/>
          <p:nvPr/>
        </p:nvSpPr>
        <p:spPr>
          <a:xfrm>
            <a:off x="6959689" y="3056653"/>
            <a:ext cx="3958697" cy="78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endParaRPr lang="en-US" sz="1750" dirty="0"/>
          </a:p>
        </p:txBody>
      </p:sp>
      <p:sp>
        <p:nvSpPr>
          <p:cNvPr id="7" name="Text 0">
            <a:extLst>
              <a:ext uri="{FF2B5EF4-FFF2-40B4-BE49-F238E27FC236}">
                <a16:creationId xmlns:a16="http://schemas.microsoft.com/office/drawing/2014/main" id="{2C60C62D-AFBD-5EF2-CCF4-095A9D6A07BB}"/>
              </a:ext>
            </a:extLst>
          </p:cNvPr>
          <p:cNvSpPr/>
          <p:nvPr/>
        </p:nvSpPr>
        <p:spPr>
          <a:xfrm>
            <a:off x="3697030" y="696028"/>
            <a:ext cx="3821027" cy="1537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3600" i="1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Channel components</a:t>
            </a:r>
            <a:endParaRPr lang="en-US" sz="3600" i="1" dirty="0"/>
          </a:p>
        </p:txBody>
      </p:sp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E260A845-5909-1883-8172-E52D41EAE5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495" y="1774004"/>
            <a:ext cx="299376" cy="299376"/>
          </a:xfrm>
          <a:prstGeom prst="rect">
            <a:avLst/>
          </a:prstGeom>
        </p:spPr>
      </p:pic>
      <p:sp>
        <p:nvSpPr>
          <p:cNvPr id="9" name="Text 1">
            <a:extLst>
              <a:ext uri="{FF2B5EF4-FFF2-40B4-BE49-F238E27FC236}">
                <a16:creationId xmlns:a16="http://schemas.microsoft.com/office/drawing/2014/main" id="{D75C46CF-253E-8314-EA64-6880CD7DA266}"/>
              </a:ext>
            </a:extLst>
          </p:cNvPr>
          <p:cNvSpPr/>
          <p:nvPr/>
        </p:nvSpPr>
        <p:spPr>
          <a:xfrm>
            <a:off x="1328038" y="1781005"/>
            <a:ext cx="1497068" cy="45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Broadcast</a:t>
            </a:r>
            <a:endParaRPr lang="en-US" sz="2200" dirty="0"/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BEA49277-DAF4-B8D5-A564-6C402DC86724}"/>
              </a:ext>
            </a:extLst>
          </p:cNvPr>
          <p:cNvSpPr/>
          <p:nvPr/>
        </p:nvSpPr>
        <p:spPr>
          <a:xfrm>
            <a:off x="1518045" y="2188299"/>
            <a:ext cx="4822506" cy="727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5AD9F058-1CB1-770D-6A18-30548C29CDBC}"/>
              </a:ext>
            </a:extLst>
          </p:cNvPr>
          <p:cNvSpPr/>
          <p:nvPr/>
        </p:nvSpPr>
        <p:spPr>
          <a:xfrm>
            <a:off x="1311712" y="3219401"/>
            <a:ext cx="1397445" cy="45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Binary</a:t>
            </a:r>
            <a:endParaRPr lang="en-US" sz="2200" dirty="0"/>
          </a:p>
        </p:txBody>
      </p:sp>
      <p:sp>
        <p:nvSpPr>
          <p:cNvPr id="17" name="Text 2">
            <a:extLst>
              <a:ext uri="{FF2B5EF4-FFF2-40B4-BE49-F238E27FC236}">
                <a16:creationId xmlns:a16="http://schemas.microsoft.com/office/drawing/2014/main" id="{2E27A3EE-8AB2-25BB-EDA1-48FE11CB8A0B}"/>
              </a:ext>
            </a:extLst>
          </p:cNvPr>
          <p:cNvSpPr/>
          <p:nvPr/>
        </p:nvSpPr>
        <p:spPr>
          <a:xfrm>
            <a:off x="1423042" y="3544723"/>
            <a:ext cx="4822506" cy="727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 err="1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joinRequest</a:t>
            </a: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; </a:t>
            </a:r>
            <a:r>
              <a:rPr lang="en-US" sz="1750" dirty="0" err="1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joinApproval</a:t>
            </a: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; </a:t>
            </a:r>
            <a:r>
              <a:rPr lang="en-US" sz="1750" dirty="0" err="1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adjustGap</a:t>
            </a: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; </a:t>
            </a:r>
            <a:r>
              <a:rPr lang="en-US" sz="1750" dirty="0" err="1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gapReady</a:t>
            </a: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; </a:t>
            </a:r>
            <a:r>
              <a:rPr lang="en-US" sz="1750" dirty="0" err="1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positionAligned</a:t>
            </a: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; </a:t>
            </a:r>
            <a:r>
              <a:rPr lang="en-US" sz="1750" dirty="0" err="1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joinoutoftime</a:t>
            </a: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; </a:t>
            </a:r>
            <a:r>
              <a:rPr lang="en-US" sz="1750" dirty="0" err="1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unsafe_done</a:t>
            </a:r>
            <a:endParaRPr lang="en-US" sz="1750" dirty="0">
              <a:solidFill>
                <a:srgbClr val="61615C"/>
              </a:solidFill>
              <a:latin typeface="Tomorrow" pitchFamily="34" charset="0"/>
              <a:ea typeface="Tomorrow" pitchFamily="34" charset="-122"/>
              <a:cs typeface="Tomorrow" pitchFamily="34" charset="-120"/>
            </a:endParaRPr>
          </a:p>
        </p:txBody>
      </p:sp>
      <p:sp>
        <p:nvSpPr>
          <p:cNvPr id="20" name="Text 2">
            <a:extLst>
              <a:ext uri="{FF2B5EF4-FFF2-40B4-BE49-F238E27FC236}">
                <a16:creationId xmlns:a16="http://schemas.microsoft.com/office/drawing/2014/main" id="{89F99AD5-D052-774D-4EB5-0324EF498199}"/>
              </a:ext>
            </a:extLst>
          </p:cNvPr>
          <p:cNvSpPr/>
          <p:nvPr/>
        </p:nvSpPr>
        <p:spPr>
          <a:xfrm>
            <a:off x="1518045" y="2274093"/>
            <a:ext cx="4822506" cy="727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>
              <a:solidFill>
                <a:srgbClr val="61615C"/>
              </a:solidFill>
              <a:latin typeface="Tomorrow" pitchFamily="34" charset="0"/>
              <a:ea typeface="Tomorrow" pitchFamily="34" charset="-122"/>
              <a:cs typeface="Tomorrow" pitchFamily="34" charset="-120"/>
            </a:endParaRPr>
          </a:p>
        </p:txBody>
      </p:sp>
      <p:sp>
        <p:nvSpPr>
          <p:cNvPr id="21" name="Text 2">
            <a:extLst>
              <a:ext uri="{FF2B5EF4-FFF2-40B4-BE49-F238E27FC236}">
                <a16:creationId xmlns:a16="http://schemas.microsoft.com/office/drawing/2014/main" id="{D05D873A-6724-D5FC-8C3A-6CBF92CAD13A}"/>
              </a:ext>
            </a:extLst>
          </p:cNvPr>
          <p:cNvSpPr/>
          <p:nvPr/>
        </p:nvSpPr>
        <p:spPr>
          <a:xfrm>
            <a:off x="1518045" y="2231196"/>
            <a:ext cx="4822506" cy="727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>
              <a:solidFill>
                <a:srgbClr val="61615C"/>
              </a:solidFill>
              <a:latin typeface="Tomorrow" pitchFamily="34" charset="0"/>
              <a:ea typeface="Tomorrow" pitchFamily="34" charset="-122"/>
              <a:cs typeface="Tomorrow" pitchFamily="34" charset="-120"/>
            </a:endParaRPr>
          </a:p>
        </p:txBody>
      </p:sp>
      <p:sp>
        <p:nvSpPr>
          <p:cNvPr id="22" name="Rectangle 3">
            <a:extLst>
              <a:ext uri="{FF2B5EF4-FFF2-40B4-BE49-F238E27FC236}">
                <a16:creationId xmlns:a16="http://schemas.microsoft.com/office/drawing/2014/main" id="{DC0CD6A6-6216-0B75-017C-34ADEE26F1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8038" y="2176020"/>
            <a:ext cx="6459589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zh-CN" sz="1750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Tomorrow"/>
                <a:ea typeface="Tomorrow"/>
              </a:rPr>
              <a:t>car_detected</a:t>
            </a:r>
            <a:r>
              <a:rPr kumimoji="0" lang="en-US" altLang="zh-CN" sz="1750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Tomorrow"/>
                <a:ea typeface="Tomorrow"/>
              </a:rPr>
              <a:t>; </a:t>
            </a:r>
            <a:r>
              <a:rPr kumimoji="0" lang="zh-CN" altLang="zh-CN" sz="1750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Tomorrow"/>
                <a:ea typeface="Tomorrow"/>
              </a:rPr>
              <a:t>brake_emergency</a:t>
            </a:r>
            <a:r>
              <a:rPr kumimoji="0" lang="en-US" altLang="zh-CN" sz="1750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Tomorrow"/>
                <a:ea typeface="Tomorrow"/>
              </a:rPr>
              <a:t>; </a:t>
            </a:r>
            <a:r>
              <a:rPr kumimoji="0" lang="zh-CN" altLang="zh-CN" sz="1750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Tomorrow"/>
                <a:ea typeface="Tomorrow"/>
              </a:rPr>
              <a:t>slow_down1</a:t>
            </a:r>
            <a:r>
              <a:rPr kumimoji="0" lang="en-US" altLang="zh-CN" sz="1750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Tomorrow"/>
                <a:ea typeface="Tomorrow"/>
              </a:rPr>
              <a:t>; </a:t>
            </a:r>
            <a:r>
              <a:rPr kumimoji="0" lang="zh-CN" altLang="zh-CN" sz="1750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Tomorrow"/>
                <a:ea typeface="Tomorrow"/>
              </a:rPr>
              <a:t>slow_down2</a:t>
            </a:r>
            <a:r>
              <a:rPr kumimoji="0" lang="en-US" altLang="zh-CN" sz="1750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Tomorrow"/>
                <a:ea typeface="Tomorrow"/>
              </a:rPr>
              <a:t>;</a:t>
            </a:r>
            <a:endParaRPr kumimoji="0" lang="zh-CN" altLang="zh-CN" sz="1750" b="0" i="0" u="none" strike="noStrike" cap="none" normalizeH="0" baseline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latin typeface="Tomorrow"/>
              <a:ea typeface="Tomorrow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zh-CN" sz="1750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Tomorrow"/>
                <a:ea typeface="Tomorrow"/>
              </a:rPr>
              <a:t>create_space</a:t>
            </a:r>
            <a:r>
              <a:rPr kumimoji="0" lang="en-US" altLang="zh-CN" sz="1750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Tomorrow"/>
                <a:ea typeface="Tomorrow"/>
              </a:rPr>
              <a:t>; </a:t>
            </a:r>
            <a:r>
              <a:rPr kumimoji="0" lang="zh-CN" altLang="zh-CN" sz="1750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Tomorrow"/>
                <a:ea typeface="Tomorrow"/>
              </a:rPr>
              <a:t>done_sync</a:t>
            </a:r>
            <a:r>
              <a:rPr kumimoji="0" lang="en-US" altLang="zh-CN" sz="1750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Tomorrow"/>
                <a:ea typeface="Tomorrow"/>
              </a:rPr>
              <a:t>; </a:t>
            </a:r>
            <a:r>
              <a:rPr kumimoji="0" lang="zh-CN" altLang="zh-CN" sz="1750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Tomorrow"/>
                <a:ea typeface="Tomorrow"/>
              </a:rPr>
              <a:t>reset_all</a:t>
            </a:r>
            <a:r>
              <a:rPr kumimoji="0" lang="en-US" altLang="zh-CN" sz="1750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Tomorrow"/>
                <a:ea typeface="Tomorrow"/>
              </a:rPr>
              <a:t>; </a:t>
            </a:r>
            <a:r>
              <a:rPr kumimoji="0" lang="zh-CN" altLang="zh-CN" sz="1750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Tomorrow"/>
                <a:ea typeface="Tomorrow"/>
              </a:rPr>
              <a:t>safe_done</a:t>
            </a:r>
            <a:r>
              <a:rPr kumimoji="0" lang="en-US" altLang="zh-CN" sz="1750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Tomorrow"/>
                <a:ea typeface="Tomorrow"/>
              </a:rPr>
              <a:t>; </a:t>
            </a:r>
            <a:r>
              <a:rPr kumimoji="0" lang="zh-CN" altLang="zh-CN" sz="1750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Tomorrow"/>
                <a:ea typeface="Tomorrow"/>
              </a:rPr>
              <a:t>start_join</a:t>
            </a:r>
            <a:r>
              <a:rPr kumimoji="0" lang="en-US" altLang="zh-CN" sz="1750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Tomorrow"/>
                <a:ea typeface="Tomorrow"/>
              </a:rPr>
              <a:t>;</a:t>
            </a:r>
            <a:endParaRPr kumimoji="0" lang="zh-CN" altLang="zh-CN" sz="1750" b="0" i="0" u="none" strike="noStrike" cap="none" normalizeH="0" baseline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latin typeface="Tomorrow"/>
              <a:ea typeface="Tomorrow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zh-CN" sz="1750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Tomorrow"/>
                <a:ea typeface="Tomorrow"/>
              </a:rPr>
              <a:t>N</a:t>
            </a:r>
            <a:r>
              <a:rPr kumimoji="0" lang="zh-CN" altLang="zh-CN" sz="1750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Tomorrow"/>
                <a:ea typeface="Tomorrow"/>
              </a:rPr>
              <a:t>otifyall</a:t>
            </a:r>
            <a:r>
              <a:rPr kumimoji="0" lang="en-US" altLang="zh-CN" sz="1750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Tomorrow"/>
                <a:ea typeface="Tomorrow"/>
              </a:rPr>
              <a:t>; </a:t>
            </a:r>
            <a:r>
              <a:rPr kumimoji="0" lang="zh-CN" altLang="zh-CN" sz="1750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Tomorrow"/>
                <a:ea typeface="Tomorrow"/>
              </a:rPr>
              <a:t>reset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90430FA-75DB-C9B5-1065-4A8FA7DC4643}"/>
              </a:ext>
            </a:extLst>
          </p:cNvPr>
          <p:cNvSpPr txBox="1"/>
          <p:nvPr/>
        </p:nvSpPr>
        <p:spPr>
          <a:xfrm>
            <a:off x="698042" y="3244334"/>
            <a:ext cx="6098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⇄</a:t>
            </a:r>
          </a:p>
        </p:txBody>
      </p:sp>
    </p:spTree>
    <p:extLst>
      <p:ext uri="{BB962C8B-B14F-4D97-AF65-F5344CB8AC3E}">
        <p14:creationId xmlns:p14="http://schemas.microsoft.com/office/powerpoint/2010/main" val="21920331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8AC5B99-A3A2-BB01-3F39-E3CA65EB64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22110"/>
            <a:ext cx="12192000" cy="2656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0092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97F16F8-687B-1D5C-AAB7-47021DFBB9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6" y="0"/>
            <a:ext cx="4572001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6ADD18F-7D58-A42E-D019-69FFAAC375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2836" y="-106330"/>
            <a:ext cx="790465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0300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BBF1C60-C555-B643-25B7-5735F4D79F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0053" y="293568"/>
            <a:ext cx="7699168" cy="6463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3658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5F4AC6E-3C8E-4DC1-9D41-59F85585880A}"/>
              </a:ext>
            </a:extLst>
          </p:cNvPr>
          <p:cNvSpPr/>
          <p:nvPr/>
        </p:nvSpPr>
        <p:spPr>
          <a:xfrm>
            <a:off x="2483536" y="868233"/>
            <a:ext cx="813220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550"/>
              </a:lnSpc>
            </a:pPr>
            <a:r>
              <a:rPr lang="en-US" sz="4450" b="1" i="1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Dataset Preprocessing</a:t>
            </a:r>
            <a:endParaRPr lang="en-US" sz="4450" b="1" i="1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A6A63EB-3088-B4D7-6652-DFE6B0B9F884}"/>
              </a:ext>
            </a:extLst>
          </p:cNvPr>
          <p:cNvSpPr/>
          <p:nvPr/>
        </p:nvSpPr>
        <p:spPr>
          <a:xfrm>
            <a:off x="2483536" y="2121247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Our dataset preparation involved several key steps:</a:t>
            </a:r>
            <a:endParaRPr lang="en-US" sz="175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28EA57F-1A2A-BA7E-E80E-5DBA06D4A8E3}"/>
              </a:ext>
            </a:extLst>
          </p:cNvPr>
          <p:cNvSpPr/>
          <p:nvPr/>
        </p:nvSpPr>
        <p:spPr>
          <a:xfrm>
            <a:off x="2483536" y="2688222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Used </a:t>
            </a:r>
            <a:r>
              <a:rPr lang="en-US" sz="1750" b="1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OpenCV</a:t>
            </a: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to preprocess images (resize, grayscale)</a:t>
            </a:r>
            <a:endParaRPr lang="en-US" sz="17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DDEBEC2-0210-24F9-4CDE-60FA6F6B2F85}"/>
              </a:ext>
            </a:extLst>
          </p:cNvPr>
          <p:cNvSpPr/>
          <p:nvPr/>
        </p:nvSpPr>
        <p:spPr>
          <a:xfrm>
            <a:off x="2483536" y="349332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Extracted features (X) and labels (Y)</a:t>
            </a:r>
            <a:endParaRPr lang="en-US" sz="175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9A827E7-463E-2901-5F65-6DA98AA289F9}"/>
              </a:ext>
            </a:extLst>
          </p:cNvPr>
          <p:cNvSpPr/>
          <p:nvPr/>
        </p:nvSpPr>
        <p:spPr>
          <a:xfrm>
            <a:off x="2483536" y="3935521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Saved processed data into X_features1.npy and Y_lebels1.npy</a:t>
            </a:r>
            <a:endParaRPr lang="en-US" sz="17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FAB6D7D-C32B-7129-D675-A0390520F07B}"/>
              </a:ext>
            </a:extLst>
          </p:cNvPr>
          <p:cNvSpPr/>
          <p:nvPr/>
        </p:nvSpPr>
        <p:spPr>
          <a:xfrm>
            <a:off x="2483536" y="474062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Manually corrected dataset to improve accuracy</a:t>
            </a: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21711527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18D1148-DA49-DC33-A09E-7F98D5BED9B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95"/>
          <a:stretch>
            <a:fillRect/>
          </a:stretch>
        </p:blipFill>
        <p:spPr>
          <a:xfrm>
            <a:off x="473481" y="399165"/>
            <a:ext cx="3617717" cy="22589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9B85EED-BFA7-86B9-1237-E7E33919B6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4447" y="393409"/>
            <a:ext cx="3471239" cy="60249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AC7E841-EDDC-9B87-C562-7873BBE6F9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3246" y="3190654"/>
            <a:ext cx="3048000" cy="358140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F6A02F8-0FA1-1993-58E5-9BCED35A8A82}"/>
              </a:ext>
            </a:extLst>
          </p:cNvPr>
          <p:cNvCxnSpPr>
            <a:cxnSpLocks/>
          </p:cNvCxnSpPr>
          <p:nvPr/>
        </p:nvCxnSpPr>
        <p:spPr>
          <a:xfrm flipH="1">
            <a:off x="2271706" y="2509279"/>
            <a:ext cx="1" cy="52188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3E15748-02EA-EFCE-339A-DF8A3CAAA41E}"/>
              </a:ext>
            </a:extLst>
          </p:cNvPr>
          <p:cNvCxnSpPr>
            <a:cxnSpLocks/>
          </p:cNvCxnSpPr>
          <p:nvPr/>
        </p:nvCxnSpPr>
        <p:spPr>
          <a:xfrm>
            <a:off x="6326262" y="6244860"/>
            <a:ext cx="0" cy="34732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5C545DC-793F-3C98-35A2-CE54D71EF045}"/>
              </a:ext>
            </a:extLst>
          </p:cNvPr>
          <p:cNvCxnSpPr>
            <a:cxnSpLocks/>
          </p:cNvCxnSpPr>
          <p:nvPr/>
        </p:nvCxnSpPr>
        <p:spPr>
          <a:xfrm>
            <a:off x="2271706" y="3031159"/>
            <a:ext cx="1970685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585A785-6423-2CF9-1E1C-308B88C237F3}"/>
              </a:ext>
            </a:extLst>
          </p:cNvPr>
          <p:cNvCxnSpPr>
            <a:cxnSpLocks/>
          </p:cNvCxnSpPr>
          <p:nvPr/>
        </p:nvCxnSpPr>
        <p:spPr>
          <a:xfrm>
            <a:off x="6326261" y="6585983"/>
            <a:ext cx="1970685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3155D9B-9279-65B5-90EC-31D289F5390B}"/>
              </a:ext>
            </a:extLst>
          </p:cNvPr>
          <p:cNvCxnSpPr>
            <a:cxnSpLocks/>
          </p:cNvCxnSpPr>
          <p:nvPr/>
        </p:nvCxnSpPr>
        <p:spPr>
          <a:xfrm flipV="1">
            <a:off x="4242390" y="219599"/>
            <a:ext cx="26580" cy="281156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25CACD9-F89D-B4B8-7987-BB8EA03C9754}"/>
              </a:ext>
            </a:extLst>
          </p:cNvPr>
          <p:cNvCxnSpPr>
            <a:cxnSpLocks/>
          </p:cNvCxnSpPr>
          <p:nvPr/>
        </p:nvCxnSpPr>
        <p:spPr>
          <a:xfrm flipV="1">
            <a:off x="8296950" y="2770220"/>
            <a:ext cx="18596" cy="381576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836A281-A997-7092-99F0-DF10B8261120}"/>
              </a:ext>
            </a:extLst>
          </p:cNvPr>
          <p:cNvCxnSpPr>
            <a:cxnSpLocks/>
          </p:cNvCxnSpPr>
          <p:nvPr/>
        </p:nvCxnSpPr>
        <p:spPr>
          <a:xfrm flipV="1">
            <a:off x="8315546" y="2768014"/>
            <a:ext cx="2125539" cy="1283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7D5ECDD7-B5C3-2347-B368-17631BD19B9A}"/>
              </a:ext>
            </a:extLst>
          </p:cNvPr>
          <p:cNvCxnSpPr>
            <a:cxnSpLocks/>
          </p:cNvCxnSpPr>
          <p:nvPr/>
        </p:nvCxnSpPr>
        <p:spPr>
          <a:xfrm>
            <a:off x="10441084" y="2757381"/>
            <a:ext cx="0" cy="50681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267601E5-C9A6-74A6-1C4C-4BA3765BADFC}"/>
              </a:ext>
            </a:extLst>
          </p:cNvPr>
          <p:cNvCxnSpPr>
            <a:cxnSpLocks/>
          </p:cNvCxnSpPr>
          <p:nvPr/>
        </p:nvCxnSpPr>
        <p:spPr>
          <a:xfrm flipV="1">
            <a:off x="4257442" y="213397"/>
            <a:ext cx="2068819" cy="854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54D1E6CF-EECC-7E1A-F4C3-B11BE5A6A736}"/>
              </a:ext>
            </a:extLst>
          </p:cNvPr>
          <p:cNvCxnSpPr>
            <a:cxnSpLocks/>
          </p:cNvCxnSpPr>
          <p:nvPr/>
        </p:nvCxnSpPr>
        <p:spPr>
          <a:xfrm>
            <a:off x="6329815" y="198473"/>
            <a:ext cx="0" cy="50681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34839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 descr="文本&#10;&#10;AI 生成的内容可能不正确。">
            <a:extLst>
              <a:ext uri="{FF2B5EF4-FFF2-40B4-BE49-F238E27FC236}">
                <a16:creationId xmlns:a16="http://schemas.microsoft.com/office/drawing/2014/main" id="{33E78469-D693-0AB8-37EE-269E0DF6BD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255" y="249016"/>
            <a:ext cx="3324689" cy="838317"/>
          </a:xfr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2C52E102-7CAE-C461-803D-049D9F95AC36}"/>
              </a:ext>
            </a:extLst>
          </p:cNvPr>
          <p:cNvSpPr txBox="1"/>
          <p:nvPr/>
        </p:nvSpPr>
        <p:spPr>
          <a:xfrm>
            <a:off x="653143" y="1049825"/>
            <a:ext cx="76156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In SVM training step, we first load the data and the labels generated in last step</a:t>
            </a:r>
            <a:endParaRPr lang="zh-CN" altLang="en-US" dirty="0"/>
          </a:p>
        </p:txBody>
      </p:sp>
      <p:pic>
        <p:nvPicPr>
          <p:cNvPr id="8" name="图片 7" descr="文本&#10;&#10;AI 生成的内容可能不正确。">
            <a:extLst>
              <a:ext uri="{FF2B5EF4-FFF2-40B4-BE49-F238E27FC236}">
                <a16:creationId xmlns:a16="http://schemas.microsoft.com/office/drawing/2014/main" id="{343C67FE-135E-5784-93B8-20BA81DCD5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255" y="1603823"/>
            <a:ext cx="3840678" cy="1397452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68C5145F-8BEC-6C6C-7AB2-15CA59D818AE}"/>
              </a:ext>
            </a:extLst>
          </p:cNvPr>
          <p:cNvSpPr txBox="1"/>
          <p:nvPr/>
        </p:nvSpPr>
        <p:spPr>
          <a:xfrm>
            <a:off x="838200" y="2969612"/>
            <a:ext cx="36932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Set that 20% for data testing </a:t>
            </a:r>
            <a:endParaRPr lang="zh-CN" altLang="en-US" dirty="0"/>
          </a:p>
        </p:txBody>
      </p:sp>
      <p:pic>
        <p:nvPicPr>
          <p:cNvPr id="11" name="图片 10" descr="图形用户界面, 文本, 应用程序&#10;&#10;AI 生成的内容可能不正确。">
            <a:extLst>
              <a:ext uri="{FF2B5EF4-FFF2-40B4-BE49-F238E27FC236}">
                <a16:creationId xmlns:a16="http://schemas.microsoft.com/office/drawing/2014/main" id="{C828E318-54EB-A01F-87D0-861BAFD8BC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352610"/>
            <a:ext cx="2851899" cy="1401781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BC412532-C626-CDFC-77EB-5033CB46CD45}"/>
              </a:ext>
            </a:extLst>
          </p:cNvPr>
          <p:cNvSpPr txBox="1"/>
          <p:nvPr/>
        </p:nvSpPr>
        <p:spPr>
          <a:xfrm>
            <a:off x="770311" y="4754391"/>
            <a:ext cx="7868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Use </a:t>
            </a:r>
            <a:r>
              <a:rPr lang="en-US" altLang="zh-CN" dirty="0" err="1"/>
              <a:t>GridSearchCV</a:t>
            </a:r>
            <a:r>
              <a:rPr lang="en-US" altLang="zh-CN" dirty="0"/>
              <a:t> function to search for best parameters, and training kernel is </a:t>
            </a:r>
            <a:r>
              <a:rPr lang="en-US" altLang="zh-CN" dirty="0" err="1"/>
              <a:t>rbf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814719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4C49FE-D80A-1DEA-8164-E339416A9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SVM in Carla</a:t>
            </a:r>
            <a:endParaRPr lang="zh-CN" altLang="en-US" dirty="0"/>
          </a:p>
        </p:txBody>
      </p:sp>
      <p:pic>
        <p:nvPicPr>
          <p:cNvPr id="5" name="内容占位符 4" descr="文本, 信件&#10;&#10;AI 生成的内容可能不正确。">
            <a:extLst>
              <a:ext uri="{FF2B5EF4-FFF2-40B4-BE49-F238E27FC236}">
                <a16:creationId xmlns:a16="http://schemas.microsoft.com/office/drawing/2014/main" id="{4B8549DA-EA38-40C0-12B1-27284E9A23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975" y="1455956"/>
            <a:ext cx="3552381" cy="1038516"/>
          </a:xfr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D0F4D008-1EDE-8C56-674D-965F1CBEFDAB}"/>
              </a:ext>
            </a:extLst>
          </p:cNvPr>
          <p:cNvSpPr txBox="1"/>
          <p:nvPr/>
        </p:nvSpPr>
        <p:spPr>
          <a:xfrm>
            <a:off x="679527" y="2494472"/>
            <a:ext cx="2831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Load the model trained</a:t>
            </a:r>
            <a:endParaRPr lang="zh-CN" altLang="en-US" dirty="0"/>
          </a:p>
        </p:txBody>
      </p:sp>
      <p:pic>
        <p:nvPicPr>
          <p:cNvPr id="8" name="图片 7" descr="手机屏幕截图&#10;&#10;AI 生成的内容可能不正确。">
            <a:extLst>
              <a:ext uri="{FF2B5EF4-FFF2-40B4-BE49-F238E27FC236}">
                <a16:creationId xmlns:a16="http://schemas.microsoft.com/office/drawing/2014/main" id="{6CF279AB-A8FE-3047-2037-D6435CB23B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649" y="2804137"/>
            <a:ext cx="4794998" cy="1726901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C649FEB6-480D-68EB-7BC5-39E7BB2D258F}"/>
              </a:ext>
            </a:extLst>
          </p:cNvPr>
          <p:cNvSpPr txBox="1"/>
          <p:nvPr/>
        </p:nvSpPr>
        <p:spPr>
          <a:xfrm>
            <a:off x="679527" y="4690753"/>
            <a:ext cx="497312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Let the image input experience the same workflow as trained model in OpenCV. </a:t>
            </a:r>
            <a:r>
              <a:rPr lang="en-US" altLang="zh-CN" dirty="0" err="1"/>
              <a:t>Model.predict</a:t>
            </a:r>
            <a:r>
              <a:rPr lang="en-US" altLang="zh-CN" dirty="0"/>
              <a:t>(feat)</a:t>
            </a:r>
            <a:r>
              <a:rPr lang="zh-CN" altLang="en-US" dirty="0"/>
              <a:t> </a:t>
            </a:r>
            <a:r>
              <a:rPr lang="en-US" altLang="zh-CN" dirty="0"/>
              <a:t>function</a:t>
            </a:r>
            <a:r>
              <a:rPr lang="zh-CN" altLang="en-US" dirty="0"/>
              <a:t> </a:t>
            </a:r>
            <a:r>
              <a:rPr lang="en-US" altLang="zh-CN" dirty="0"/>
              <a:t>uses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model</a:t>
            </a:r>
            <a:r>
              <a:rPr lang="zh-CN" altLang="en-US" dirty="0"/>
              <a:t> </a:t>
            </a:r>
            <a:r>
              <a:rPr lang="en-US" altLang="zh-CN" dirty="0"/>
              <a:t>trained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output</a:t>
            </a:r>
            <a:r>
              <a:rPr lang="zh-CN" altLang="en-US" dirty="0"/>
              <a:t> </a:t>
            </a:r>
            <a:r>
              <a:rPr lang="en-US" altLang="zh-CN" dirty="0"/>
              <a:t>the direction of steering, to ensure a more stable behavior, we chose to map steering into 0.5 instead of 1.0.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710707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21A9D9EE-144F-E99A-E6E7-41E161E6DD36}"/>
              </a:ext>
            </a:extLst>
          </p:cNvPr>
          <p:cNvSpPr/>
          <p:nvPr/>
        </p:nvSpPr>
        <p:spPr>
          <a:xfrm>
            <a:off x="294062" y="905509"/>
            <a:ext cx="662237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Results and Next Steps</a:t>
            </a:r>
            <a:endParaRPr lang="en-US" sz="445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7771EC30-345B-83F6-7C29-8470A593FFDB}"/>
              </a:ext>
            </a:extLst>
          </p:cNvPr>
          <p:cNvSpPr/>
          <p:nvPr/>
        </p:nvSpPr>
        <p:spPr>
          <a:xfrm>
            <a:off x="294062" y="218126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Achievements</a:t>
            </a:r>
            <a:endParaRPr lang="en-US" sz="22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EF767C3E-4160-A410-FE9B-980913BEAD60}"/>
              </a:ext>
            </a:extLst>
          </p:cNvPr>
          <p:cNvSpPr/>
          <p:nvPr/>
        </p:nvSpPr>
        <p:spPr>
          <a:xfrm>
            <a:off x="294062" y="2762408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Successfully trained SVM to classify camera input into steering directions</a:t>
            </a:r>
            <a:endParaRPr lang="en-US" sz="175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9D6F9141-E472-06AF-B497-DD4C0FA5B2FF}"/>
              </a:ext>
            </a:extLst>
          </p:cNvPr>
          <p:cNvSpPr/>
          <p:nvPr/>
        </p:nvSpPr>
        <p:spPr>
          <a:xfrm>
            <a:off x="294062" y="3567508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Created formal verification model for safe truck platooning</a:t>
            </a:r>
            <a:endParaRPr lang="en-US" sz="175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C55A4DF5-4DA8-52DE-14BD-63C14B934FF8}"/>
              </a:ext>
            </a:extLst>
          </p:cNvPr>
          <p:cNvSpPr/>
          <p:nvPr/>
        </p:nvSpPr>
        <p:spPr>
          <a:xfrm>
            <a:off x="294062" y="4372609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Demonstrated integration of ML and formal methods</a:t>
            </a:r>
            <a:endParaRPr lang="en-US" sz="175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9CFD8591-3E54-8665-DFD7-93D7DD2EE859}"/>
              </a:ext>
            </a:extLst>
          </p:cNvPr>
          <p:cNvSpPr/>
          <p:nvPr/>
        </p:nvSpPr>
        <p:spPr>
          <a:xfrm>
            <a:off x="7099793" y="218126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Future Work</a:t>
            </a:r>
            <a:endParaRPr lang="en-US" sz="22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1F26278E-BA00-5653-FA59-07B9962B1DDF}"/>
              </a:ext>
            </a:extLst>
          </p:cNvPr>
          <p:cNvSpPr/>
          <p:nvPr/>
        </p:nvSpPr>
        <p:spPr>
          <a:xfrm>
            <a:off x="7099793" y="276240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Implement real-time control system</a:t>
            </a:r>
            <a:endParaRPr lang="en-US" sz="175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F7E0294A-A6B3-5B32-80D6-47818CBAB6EE}"/>
              </a:ext>
            </a:extLst>
          </p:cNvPr>
          <p:cNvSpPr/>
          <p:nvPr/>
        </p:nvSpPr>
        <p:spPr>
          <a:xfrm>
            <a:off x="7099793" y="3204606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Expand verification to more complex scenarios</a:t>
            </a:r>
            <a:endParaRPr lang="en-US" sz="175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D8A0CD67-69F1-4B29-8C1E-023241A9A18E}"/>
              </a:ext>
            </a:extLst>
          </p:cNvPr>
          <p:cNvSpPr/>
          <p:nvPr/>
        </p:nvSpPr>
        <p:spPr>
          <a:xfrm>
            <a:off x="7099793" y="364680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Field testing with physical vehicles</a:t>
            </a: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564599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587</Words>
  <Application>Microsoft Office PowerPoint</Application>
  <PresentationFormat>Widescreen</PresentationFormat>
  <Paragraphs>62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Tomorrow</vt:lpstr>
      <vt:lpstr>Tomorrow Semi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SVM in Carla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bigboss ja</dc:creator>
  <cp:lastModifiedBy>bigboss ja</cp:lastModifiedBy>
  <cp:revision>3</cp:revision>
  <dcterms:created xsi:type="dcterms:W3CDTF">2025-06-26T01:36:19Z</dcterms:created>
  <dcterms:modified xsi:type="dcterms:W3CDTF">2025-06-26T18:43:33Z</dcterms:modified>
</cp:coreProperties>
</file>